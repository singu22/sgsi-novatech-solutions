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7F24"/>
          </a:solidFill>
          <a:ln w="12700">
            <a:solidFill>
              <a:srgbClr val="C17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45720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29400" y="2697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ISO/IEC 27001:2022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29400" y="3017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OCTAVE Allegro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29400" y="3337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LFPDPPP México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1554480"/>
            <a:ext cx="6035040" cy="0"/>
          </a:xfrm>
          <a:prstGeom prst="line">
            <a:avLst/>
          </a:prstGeom>
          <a:noFill/>
          <a:ln w="19050">
            <a:solidFill>
              <a:srgbClr val="C17F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91440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 DE CAPACITACIÓN Y CONCIENTIZACIÓN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1645920"/>
            <a:ext cx="6080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 de la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Información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320040" y="338328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Sistema de Gestión de Seguridad · NovaTech Solutions · 2025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17F24"/>
          </a:solidFill>
          <a:ln w="12700">
            <a:solidFill>
              <a:srgbClr val="C17F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Confidencial — Uso Interno Restringido · Comité de Seguridad de la Información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7F24"/>
          </a:solidFill>
          <a:ln w="12700">
            <a:solidFill>
              <a:srgbClr val="C17F2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2331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2860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Sesión de hoy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154680" y="320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veremos hoy?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154680" y="868680"/>
            <a:ext cx="5577840" cy="0"/>
          </a:xfrm>
          <a:prstGeom prst="line">
            <a:avLst/>
          </a:prstGeom>
          <a:noFill/>
          <a:ln w="25400">
            <a:solidFill>
              <a:srgbClr val="C17F2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54680" y="1005840"/>
            <a:ext cx="502920" cy="5029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15468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749040" y="10241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importa la seguridad en NovaTech?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49040" y="12618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Los incidentes reales que nos llevaron aquí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54680" y="1773936"/>
            <a:ext cx="502920" cy="5029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154680" y="1773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749040" y="179222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Triada CIA: los tres pilares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49040" y="20299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Confidencialidad · Integridad · Disponibilidad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154680" y="2542032"/>
            <a:ext cx="502920" cy="5029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15468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749040" y="25603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tres amenazas más frecuentes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749040" y="279806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Phishing · Error humano · Fallas de infraestructura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154680" y="3310128"/>
            <a:ext cx="502920" cy="5029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15468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749040" y="33284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Buenas prácticas para tu rol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749040" y="356616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Qué debes hacer diferente a partir de hoy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154680" y="4078224"/>
            <a:ext cx="502920" cy="5029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15468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749040" y="409651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reportar un incidente?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749040" y="433425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 procedimiento en 3 pasos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17F24"/>
          </a:solidFill>
          <a:ln w="12700">
            <a:solidFill>
              <a:srgbClr val="C17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ESTAMOS AQUÍ?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Tres incidentes reales que cambiaron la perspectiva de NovaTech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743200" cy="3520440"/>
          </a:xfrm>
          <a:prstGeom prst="rect">
            <a:avLst/>
          </a:prstGeom>
          <a:solidFill>
            <a:srgbClr val="F7F4EE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2743200" cy="59436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ACCESO NO AUTORIZADO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18105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repositorio comprometido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226771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desarrollador olvidó cerrar sesión en un equipo compartido. Alguien accedió al repositorio de código desde una IP desconocida a las 3am y descargó componentes de múltiples proyectos.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" y="3593592"/>
            <a:ext cx="2560320" cy="841248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36301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¿Qué habría pasado si modifican el código?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0" y="1143000"/>
            <a:ext cx="2743200" cy="3520440"/>
          </a:xfrm>
          <a:prstGeom prst="rect">
            <a:avLst/>
          </a:prstGeom>
          <a:solidFill>
            <a:srgbClr val="F7F4EE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143000"/>
            <a:ext cx="2743200" cy="594360"/>
          </a:xfrm>
          <a:prstGeom prst="rect">
            <a:avLst/>
          </a:prstGeom>
          <a:solidFill>
            <a:srgbClr val="C17F24"/>
          </a:solidFill>
          <a:ln w="12700">
            <a:solidFill>
              <a:srgbClr val="C17F2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4904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FILTRACIÓN SILENCIOSA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337560" y="18105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correo equivocado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37560" y="226771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empleado de soporte reenvió una conversación completa de un cliente —con datos de contacto y detalles técnicos del sistema— a una dirección de correo incorrecta.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291840" y="3593592"/>
            <a:ext cx="2560320" cy="841248"/>
          </a:xfrm>
          <a:prstGeom prst="rect">
            <a:avLst/>
          </a:prstGeom>
          <a:solidFill>
            <a:srgbClr val="C17F24"/>
          </a:solidFill>
          <a:ln w="12700">
            <a:solidFill>
              <a:srgbClr val="C17F2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37560" y="36301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Exposición de datos personales · Riesgo legal LFPDPPP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172200" y="1143000"/>
            <a:ext cx="2743200" cy="3520440"/>
          </a:xfrm>
          <a:prstGeom prst="rect">
            <a:avLst/>
          </a:prstGeom>
          <a:solidFill>
            <a:srgbClr val="F7F4EE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72200" y="1143000"/>
            <a:ext cx="2743200" cy="5943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2084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FALLA DE INFRAESTRUCTURA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309360" y="18105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CRM que no respondió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309360" y="226771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Una mala configuración durante una actualización dejó el sistema CRM inactivo durante casi 6 horas. Nadie sabía cómo responder ni qué hacer si la base de datos se perdía.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263640" y="3593592"/>
            <a:ext cx="2560320" cy="84124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09360" y="36301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 horas sin operar · Clientes frustrados · Sin plan de recuperación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NovaTech Solutions · Programa de Capacitación en Seguridad ·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7F24"/>
          </a:solidFill>
          <a:ln w="12700">
            <a:solidFill>
              <a:srgbClr val="C17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Tres Pilares de la Seguridad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TRIADA CIA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0"/>
          </a:xfrm>
          <a:prstGeom prst="line">
            <a:avLst/>
          </a:prstGeom>
          <a:noFill/>
          <a:ln w="12700">
            <a:solidFill>
              <a:srgbClr val="C17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361188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344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17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5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3716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176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CONFIDENCIALIDAD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254203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información solo es accesible para quienes están autorizados a verla.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32461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Datos personales de clientes y empleados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4048" y="348386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Credenciales de acceso y contraseñas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4048" y="372160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Código fuente y documentos contractuales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4048" y="4645152"/>
            <a:ext cx="2523744" cy="0"/>
          </a:xfrm>
          <a:prstGeom prst="line">
            <a:avLst/>
          </a:prstGeom>
          <a:noFill/>
          <a:ln w="9525">
            <a:solidFill>
              <a:srgbClr val="C17F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46817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17F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 correo con datos del cliente enviado al destinatario equivocado violó este pilar.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227832" y="1234440"/>
            <a:ext cx="2743200" cy="3611880"/>
          </a:xfrm>
          <a:prstGeom prst="rect">
            <a:avLst/>
          </a:prstGeom>
          <a:solidFill>
            <a:srgbClr val="2E5E48"/>
          </a:solidFill>
          <a:ln w="12700">
            <a:solidFill>
              <a:srgbClr val="2E5E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227832" y="12344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56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37160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19272" y="2176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8A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INTEGRIDAD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337560" y="254203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información es exacta, completa y no ha sido modificada sin autorización.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37560" y="32461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Código fuente sin modificaciones no autorizadas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337560" y="348386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Registros financieros sin alteraciones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337560" y="372160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Configuraciones de sistemas verificadas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337560" y="4645152"/>
            <a:ext cx="2523744" cy="0"/>
          </a:xfrm>
          <a:prstGeom prst="line">
            <a:avLst/>
          </a:prstGeom>
          <a:noFill/>
          <a:ln w="9525">
            <a:solidFill>
              <a:srgbClr val="E8A03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37560" y="46817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A0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 acceso al repositorio puso en riesgo la integridad del código de múltiples proyectos.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181344" y="1234440"/>
            <a:ext cx="2743200" cy="3611880"/>
          </a:xfrm>
          <a:prstGeom prst="rect">
            <a:avLst/>
          </a:prstGeom>
          <a:solidFill>
            <a:srgbClr val="4A8C6F"/>
          </a:solidFill>
          <a:ln w="12700">
            <a:solidFill>
              <a:srgbClr val="4A8C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181344" y="12344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56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1371600"/>
            <a:ext cx="640080" cy="6400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272784" y="2176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0C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DISPONIBILIDAD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291072" y="254203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información está accesible para usuarios autorizados cuando la necesitan.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291072" y="32461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CRM disponible para atención a clientes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6291072" y="348386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Repositorios accesibles para desarrollo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291072" y="372160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• Sistemas de facturación operativos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291072" y="4645152"/>
            <a:ext cx="2523744" cy="0"/>
          </a:xfrm>
          <a:prstGeom prst="line">
            <a:avLst/>
          </a:prstGeom>
          <a:noFill/>
          <a:ln w="9525">
            <a:solidFill>
              <a:srgbClr val="F0C06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291072" y="46817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0C06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caída de 6 horas del CRM demostró el impacto de perder disponibilidad.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17F24"/>
          </a:solidFill>
          <a:ln w="12700">
            <a:solidFill>
              <a:srgbClr val="C17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del Programa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Tres componentes complementarios para los 120 colaboradores de NovaTech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2743200" cy="7315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07592" y="11430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CONCIENTIZACIÓN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07592" y="14447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17F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Awareness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8328" y="1920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Audiencia: 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5156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Todos los 120 empleados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8328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Frecuencia: 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" y="2148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Continua — mensual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38328" y="2441448"/>
            <a:ext cx="2523744" cy="0"/>
          </a:xfrm>
          <a:prstGeom prst="line">
            <a:avLst/>
          </a:prstGeom>
          <a:noFill/>
          <a:ln w="9525">
            <a:solidFill>
              <a:srgbClr val="E0DD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" y="2496312"/>
            <a:ext cx="2523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◆  Buenas prácticas en el manejo de información sensible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38328" y="2761488"/>
            <a:ext cx="2523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◆  Alertas sobre nuevas amenazas del sector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38328" y="3026664"/>
            <a:ext cx="2523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◆  Lecciones aprendidas de incidentes reales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38328" y="3291840"/>
            <a:ext cx="2523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◆  Políticas activas del SGSI en lenguaje accesible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0040" y="4480560"/>
            <a:ext cx="2560320" cy="29260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489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Cambiar la cultura: que cada empleado se sienta parte de la seguridad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00400" y="1097280"/>
            <a:ext cx="2743200" cy="731520"/>
          </a:xfrm>
          <a:prstGeom prst="rect">
            <a:avLst/>
          </a:prstGeom>
          <a:solidFill>
            <a:srgbClr val="2E5E48"/>
          </a:solidFill>
          <a:ln w="12700">
            <a:solidFill>
              <a:srgbClr val="2E5E4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91840" y="111556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143000"/>
            <a:ext cx="502920" cy="5029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279392" y="11430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CAPACITACIÓN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279392" y="14447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17F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Training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310128" y="1920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Audiencia: 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02336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Por rol y área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310128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Frecuencia: 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114800" y="2148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ingreso + anual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310128" y="2441448"/>
            <a:ext cx="2523744" cy="0"/>
          </a:xfrm>
          <a:prstGeom prst="line">
            <a:avLst/>
          </a:prstGeom>
          <a:noFill/>
          <a:ln w="9525">
            <a:solidFill>
              <a:srgbClr val="E0DD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310128" y="2496312"/>
            <a:ext cx="2523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◆  Codificación segura para desarrolladores (OWASP)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3310128" y="2761488"/>
            <a:ext cx="2523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◆  Manejo de datos personales para soporte (LFPDPPP)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3310128" y="3026664"/>
            <a:ext cx="2523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◆  Control de accesos y segregación para administración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3310128" y="3291840"/>
            <a:ext cx="2523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◆  Reconocimiento de phishing para toda la plantilla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3291840" y="4480560"/>
            <a:ext cx="2560320" cy="292608"/>
          </a:xfrm>
          <a:prstGeom prst="rect">
            <a:avLst/>
          </a:prstGeom>
          <a:solidFill>
            <a:srgbClr val="2E5E48"/>
          </a:solidFill>
          <a:ln w="12700">
            <a:solidFill>
              <a:srgbClr val="2E5E4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337560" y="4489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Competencias técnicas específicas según las responsabilidades de cada rol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617220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172200" y="1097280"/>
            <a:ext cx="2743200" cy="731520"/>
          </a:xfrm>
          <a:prstGeom prst="rect">
            <a:avLst/>
          </a:prstGeom>
          <a:solidFill>
            <a:srgbClr val="4A8C6F"/>
          </a:solidFill>
          <a:ln w="12700">
            <a:solidFill>
              <a:srgbClr val="4A8C6F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263640" y="111556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143000"/>
            <a:ext cx="502920" cy="50292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7251192" y="11430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ENTRENAMIENTO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7251192" y="14447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17F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Practice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6281928" y="1920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Audiencia: 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699516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Todos + equipo CSIRT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6281928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Frecuencia: 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7086600" y="2148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Semestral + simulacros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6281928" y="2441448"/>
            <a:ext cx="2523744" cy="0"/>
          </a:xfrm>
          <a:prstGeom prst="line">
            <a:avLst/>
          </a:prstGeom>
          <a:noFill/>
          <a:ln w="9525">
            <a:solidFill>
              <a:srgbClr val="E0DDD8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281928" y="2496312"/>
            <a:ext cx="2523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◆  Simulaciones de phishing controladas y medidas</a:t>
            </a:r>
            <a:endParaRPr lang="en-US" sz="950" dirty="0"/>
          </a:p>
        </p:txBody>
      </p:sp>
      <p:sp>
        <p:nvSpPr>
          <p:cNvPr id="52" name="Text 47"/>
          <p:cNvSpPr/>
          <p:nvPr/>
        </p:nvSpPr>
        <p:spPr>
          <a:xfrm>
            <a:off x="6281928" y="2761488"/>
            <a:ext cx="2523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◆  Pruebas de ingeniería social por canales distintos</a:t>
            </a:r>
            <a:endParaRPr lang="en-US" sz="950" dirty="0"/>
          </a:p>
        </p:txBody>
      </p:sp>
      <p:sp>
        <p:nvSpPr>
          <p:cNvPr id="53" name="Text 48"/>
          <p:cNvSpPr/>
          <p:nvPr/>
        </p:nvSpPr>
        <p:spPr>
          <a:xfrm>
            <a:off x="6281928" y="3026664"/>
            <a:ext cx="2523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◆  Simulacros de respuesta a incidentes con el CSIRT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6281928" y="3291840"/>
            <a:ext cx="2523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◆  Tabletop exercises con equipo directivo</a:t>
            </a: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6263640" y="4480560"/>
            <a:ext cx="2560320" cy="292608"/>
          </a:xfrm>
          <a:prstGeom prst="rect">
            <a:avLst/>
          </a:prstGeom>
          <a:solidFill>
            <a:srgbClr val="4A8C6F"/>
          </a:solidFill>
          <a:ln w="12700">
            <a:solidFill>
              <a:srgbClr val="4A8C6F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309360" y="44897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Medir el comportamiento real ante ataques antes de que ocurran de verdad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17F24"/>
          </a:solidFill>
          <a:ln w="12700">
            <a:solidFill>
              <a:srgbClr val="C17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Capacitación por 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Cada área tiene responsabilidades específicas y riesgos distintos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51560"/>
          <a:ext cx="8686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2011680"/>
                <a:gridCol w="164592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Área / Rol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Temas clave de capacitación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Riesgo principal que mitiga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KPI objetivo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Desarrollo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Codificación segura (OWASP Top 10) · Gestión de repositorios · Secretos y credenciales · Prevención de vulnerabilidades SQL/XSS</a:t>
                      </a:r>
                      <a:endParaRPr lang="en-US" sz="10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3232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Filtración del código fuente</a:t>
                      </a:r>
                      <a:endParaRPr lang="en-US" sz="10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vulnerabilidades críticas sin parche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Atención a Clientes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Protección de datos personales · LFPDPPP y derechos ARCO · Protocolo de envío de información confidencial · Ingeniería social</a:t>
                      </a:r>
                      <a:endParaRPr lang="en-US" sz="10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3232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Exposición de datos de clientes</a:t>
                      </a:r>
                      <a:endParaRPr lang="en-US" sz="10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incidentes por envío incorrecto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Administración / RRHH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Custodia de información financiera · Manejo de expedientes de empleados · Segregación de funciones · Control de accesos privilegiados</a:t>
                      </a:r>
                      <a:endParaRPr lang="en-US" sz="10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3232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Acceso indebido a datos sensibles</a:t>
                      </a:r>
                      <a:endParaRPr lang="en-US" sz="10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100% expedientes con acceso RBAC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Todos los empleados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7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Política de uso aceptable · Cierre de sesión obligatorio · Reconocimiento de phishing · Canales de reporte de incidentes</a:t>
                      </a:r>
                      <a:endParaRPr lang="en-US" sz="10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3232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Errores humanos generales</a:t>
                      </a:r>
                      <a:endParaRPr lang="en-US" sz="10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A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≥95% capacitados · Phishing &lt;5%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6583680" y="73152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32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AMENAZA #1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5486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reconocer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Phishing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365760" y="1783080"/>
            <a:ext cx="8412480" cy="0"/>
          </a:xfrm>
          <a:prstGeom prst="line">
            <a:avLst/>
          </a:prstGeom>
          <a:noFill/>
          <a:ln w="19050">
            <a:solidFill>
              <a:srgbClr val="B832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920240"/>
            <a:ext cx="411480" cy="41148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193852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7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Urgencia o amenaza artificial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1396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"Tu cuenta será suspendida en 24 horas" — Los atacantes crean presión para que actúes sin pensar.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2514600"/>
            <a:ext cx="411480" cy="41148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7240" y="253288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7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Remitente sospechoso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273405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 nombre puede parecer legítimo pero el dominio del correo no coincide con la empresa real.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3108960"/>
            <a:ext cx="411480" cy="41148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7240" y="312724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7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Enlace diferente al texto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332841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Pasa el cursor sobre el link ANTES de hacer clic. Si la URL que aparece es distinta, no hagas clic.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3703320"/>
            <a:ext cx="411480" cy="41148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7240" y="372160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7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Solicitudes de credenciales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7240" y="392277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NovaTech NUNCA te pedirá tu contraseña por correo, chat o llamada telefónica. Nunca.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4320" y="4297680"/>
            <a:ext cx="411480" cy="41148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77240" y="431596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7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Archivos adjuntos inesperados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77240" y="451713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archivo que no esperabas de alguien que conoces puede estar infectado. Verifica antes de abrir.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 la duda: NO hagas clic. Reporta al CISO inmediatamente.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17F24"/>
          </a:solidFill>
          <a:ln w="12700">
            <a:solidFill>
              <a:srgbClr val="C17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Buenas Prácticas para Todos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Comportamientos que reducen el riesgo a partir de hoy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640080" cy="16916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26187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Contraseñas únicas y robustas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6642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Una contraseña diferente por sistema. Usa el gestor de contraseñas corporativo.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640080" cy="1691640"/>
          </a:xfrm>
          <a:prstGeom prst="rect">
            <a:avLst/>
          </a:prstGeom>
          <a:solidFill>
            <a:srgbClr val="2E5E48"/>
          </a:solidFill>
          <a:ln w="12700">
            <a:solidFill>
              <a:srgbClr val="2E5E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13632" y="126187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 el MFA siempre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13632" y="16642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 doble factor de autenticación en todos los sistemas: correo, repositorios y CRM.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097280"/>
            <a:ext cx="640080" cy="1691640"/>
          </a:xfrm>
          <a:prstGeom prst="rect">
            <a:avLst/>
          </a:prstGeom>
          <a:solidFill>
            <a:srgbClr val="4A8C6F"/>
          </a:solidFill>
          <a:ln w="12700">
            <a:solidFill>
              <a:srgbClr val="4A8C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126187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Cierra sesión al terminar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85432" y="16642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Especialmente en equipos compartidos o cuando visitas a un cliente.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971800"/>
            <a:ext cx="640080" cy="1691640"/>
          </a:xfrm>
          <a:prstGeom prst="rect">
            <a:avLst/>
          </a:prstGeom>
          <a:solidFill>
            <a:srgbClr val="8B5E1A"/>
          </a:solidFill>
          <a:ln w="12700">
            <a:solidFill>
              <a:srgbClr val="8B5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31363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 antes de enviar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1832" y="353872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Confirma el destinatario antes de enviar información sensible por correo.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71800"/>
            <a:ext cx="640080" cy="16916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13632" y="31363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Nunca compartas credenciales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13632" y="353872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Tus accesos son personales e intransferibles. Reporta si te los piden.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29718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2971800"/>
            <a:ext cx="640080" cy="1691640"/>
          </a:xfrm>
          <a:prstGeom prst="rect">
            <a:avLst/>
          </a:prstGeom>
          <a:solidFill>
            <a:srgbClr val="2E5E48"/>
          </a:solidFill>
          <a:ln w="12700">
            <a:solidFill>
              <a:srgbClr val="2E5E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85432" y="31363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Reporta cualquier anomalía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85432" y="353872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¿Algo parece raro? Notifícalo al CISO. No existe el reporte "demasiado pequeño".</a:t>
            </a:r>
            <a:endParaRPr lang="en-US" sz="10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0"/>
            <a:ext cx="457200" cy="457200"/>
          </a:xfrm>
          <a:prstGeom prst="rect">
            <a:avLst/>
          </a:prstGeom>
        </p:spPr>
      </p:pic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45920"/>
            <a:ext cx="457200" cy="457200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45920"/>
            <a:ext cx="457200" cy="457200"/>
          </a:xfrm>
          <a:prstGeom prst="rect">
            <a:avLst/>
          </a:prstGeom>
        </p:spPr>
      </p:pic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520440"/>
            <a:ext cx="457200" cy="457200"/>
          </a:xfrm>
          <a:prstGeom prst="rect">
            <a:avLst/>
          </a:prstGeom>
        </p:spPr>
      </p:pic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520440"/>
            <a:ext cx="457200" cy="457200"/>
          </a:xfrm>
          <a:prstGeom prst="rect">
            <a:avLst/>
          </a:prstGeom>
        </p:spPr>
      </p:pic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5204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17F24"/>
          </a:solidFill>
          <a:ln w="12700">
            <a:solidFill>
              <a:srgbClr val="C17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Reportar un Incidente?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pasos simples · Hacerlo a tiempo puede salvar a NovaTech de un daño mayor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743200" cy="3611880"/>
          </a:xfrm>
          <a:prstGeom prst="rect">
            <a:avLst/>
          </a:prstGeom>
          <a:solidFill>
            <a:srgbClr val="F7F4EE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2743200" cy="10058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115568"/>
            <a:ext cx="640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4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1887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1704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63040" y="15361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17F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¿Viste algo raro?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2176272"/>
            <a:ext cx="2468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correo sospechoso, acceso inusual, sistema lento, dato extraño, solicitud de credenciales o cualquier anomalía. Si dudas, es mejor reportar.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97180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7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200400" y="1097280"/>
            <a:ext cx="2743200" cy="3611880"/>
          </a:xfrm>
          <a:prstGeom prst="rect">
            <a:avLst/>
          </a:prstGeom>
          <a:solidFill>
            <a:srgbClr val="F7F4EE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097280"/>
            <a:ext cx="2743200" cy="1005840"/>
          </a:xfrm>
          <a:prstGeom prst="rect">
            <a:avLst/>
          </a:prstGeom>
          <a:solidFill>
            <a:srgbClr val="2E5E48"/>
          </a:solidFill>
          <a:ln w="12700">
            <a:solidFill>
              <a:srgbClr val="2E5E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73552" y="1115568"/>
            <a:ext cx="640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4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11887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34840" y="11704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REPORTA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434840" y="15361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17F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Inmediatamente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337560" y="2176272"/>
            <a:ext cx="2468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Correo: seguridad@novatech.mx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Ticket interno: Sistema de 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Verbal: a tu líder de área (él escala en 30 min)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 esperes. No lo resuelvas solo.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94360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7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6172200" y="1097280"/>
            <a:ext cx="2743200" cy="3611880"/>
          </a:xfrm>
          <a:prstGeom prst="rect">
            <a:avLst/>
          </a:prstGeom>
          <a:solidFill>
            <a:srgbClr val="F7F4EE"/>
          </a:solidFill>
          <a:ln w="12700">
            <a:solidFill>
              <a:srgbClr val="E0DD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72200" y="1097280"/>
            <a:ext cx="2743200" cy="1005840"/>
          </a:xfrm>
          <a:prstGeom prst="rect">
            <a:avLst/>
          </a:prstGeom>
          <a:solidFill>
            <a:srgbClr val="4A8C6F"/>
          </a:solidFill>
          <a:ln w="12700">
            <a:solidFill>
              <a:srgbClr val="4A8C6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115568"/>
            <a:ext cx="640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4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118872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406640" y="11704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7406640" y="15361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17F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¿Qué pasó exactamente?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309360" y="2176272"/>
            <a:ext cx="2468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Anota: fecha y hora, qué observaste, en qué sistema, si abriste algo o hiciste clic. Esta información es crucial para la investigación.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28600" y="4800600"/>
            <a:ext cx="8686800" cy="25603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65760" y="481888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Recuerda: No hay reporte demasiado pequeño. Tu alerta a tiempo puede evitar un incidente mayor.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7F24"/>
          </a:solidFill>
          <a:ln w="12700">
            <a:solidFill>
              <a:srgbClr val="C17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sabremos que funciona?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7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MÉTRICAS E INDICADORES DEL PROGRAMA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0"/>
          </a:xfrm>
          <a:prstGeom prst="line">
            <a:avLst/>
          </a:prstGeom>
          <a:noFill/>
          <a:ln w="12700">
            <a:solidFill>
              <a:srgbClr val="C17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3931920" cy="1508760"/>
          </a:xfrm>
          <a:prstGeom prst="rect">
            <a:avLst/>
          </a:prstGeom>
          <a:solidFill>
            <a:srgbClr val="162E22"/>
          </a:solidFill>
          <a:ln w="12700">
            <a:solidFill>
              <a:srgbClr val="2A4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2984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17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95%</a:t>
            </a:r>
            <a:endParaRPr lang="en-US" sz="4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3716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488" y="2121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Empleados capacitados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" y="2377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Cobertura del programa por área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1188720"/>
            <a:ext cx="3931920" cy="1508760"/>
          </a:xfrm>
          <a:prstGeom prst="rect">
            <a:avLst/>
          </a:prstGeom>
          <a:solidFill>
            <a:srgbClr val="162E22"/>
          </a:solidFill>
          <a:ln w="12700">
            <a:solidFill>
              <a:srgbClr val="2A4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27448" y="12984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5%</a:t>
            </a:r>
            <a:endParaRPr lang="en-US" sz="4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3716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27448" y="2121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Tasa de clics en phishing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27448" y="2377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Meta a los 12 meses (desde línea base actual)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65760" y="2880360"/>
            <a:ext cx="3931920" cy="1508760"/>
          </a:xfrm>
          <a:prstGeom prst="rect">
            <a:avLst/>
          </a:prstGeom>
          <a:solidFill>
            <a:srgbClr val="162E22"/>
          </a:solidFill>
          <a:ln w="12700">
            <a:solidFill>
              <a:srgbClr val="2A4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75488" y="29900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17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80%</a:t>
            </a:r>
            <a:endParaRPr lang="en-US" sz="4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30632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" y="3813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Calificación promedio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75488" y="4069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 evaluaciones por área y rol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17720" y="2880360"/>
            <a:ext cx="3931920" cy="1508760"/>
          </a:xfrm>
          <a:prstGeom prst="rect">
            <a:avLst/>
          </a:prstGeom>
          <a:solidFill>
            <a:srgbClr val="162E22"/>
          </a:solidFill>
          <a:ln w="12700">
            <a:solidFill>
              <a:srgbClr val="2A4A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4727448" y="29900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8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06324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27448" y="3813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Sesiones con registro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727448" y="4069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Evidencia para auditorías internas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F2318"/>
          </a:solidFill>
          <a:ln w="9525">
            <a:solidFill>
              <a:srgbClr val="C17F2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0292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17F2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Los resultados se reportan trimestralmente al Comité de Seguridad de NovaTech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C17F24"/>
          </a:solidFill>
          <a:ln w="12700">
            <a:solidFill>
              <a:srgbClr val="C17F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2318"/>
          </a:solidFill>
          <a:ln w="12700">
            <a:solidFill>
              <a:srgbClr val="0F231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548640"/>
            <a:ext cx="265176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657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seguridad 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responsabilidad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todos.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365760" y="2606040"/>
            <a:ext cx="5303520" cy="0"/>
          </a:xfrm>
          <a:prstGeom prst="line">
            <a:avLst/>
          </a:prstGeom>
          <a:noFill/>
          <a:ln w="25400">
            <a:solidFill>
              <a:srgbClr val="C17F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274320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Cerraré sesión en equipos compartidos siempre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316382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Reportaré cualquier anomalía sin importar su tamaño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358444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Verificaré el destinatario antes de enviar información sensible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C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Nunca compartiré mis credenciales con nadie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442569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Participaré activamente en cada capacitación y simulacro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63640" y="33375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NovaTech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263640" y="41605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Programa de Capacitación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A2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 Seguridad · 2025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63640" y="46634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Capacitación en Seguridad de la Información — NovaTech Solutions</dc:title>
  <dc:subject>PptxGenJS Presentation</dc:subject>
  <dc:creator>PptxGenJS</dc:creator>
  <cp:lastModifiedBy>PptxGenJS</cp:lastModifiedBy>
  <cp:revision>1</cp:revision>
  <dcterms:created xsi:type="dcterms:W3CDTF">2026-05-03T16:33:12Z</dcterms:created>
  <dcterms:modified xsi:type="dcterms:W3CDTF">2026-05-03T16:33:12Z</dcterms:modified>
</cp:coreProperties>
</file>